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7"/>
  </p:notesMasterIdLst>
  <p:sldIdLst>
    <p:sldId id="338" r:id="rId3"/>
    <p:sldId id="323" r:id="rId4"/>
    <p:sldId id="340" r:id="rId5"/>
    <p:sldId id="341" r:id="rId6"/>
    <p:sldId id="342" r:id="rId7"/>
    <p:sldId id="343" r:id="rId8"/>
    <p:sldId id="344" r:id="rId9"/>
    <p:sldId id="345" r:id="rId10"/>
    <p:sldId id="346" r:id="rId11"/>
    <p:sldId id="347" r:id="rId12"/>
    <p:sldId id="348" r:id="rId13"/>
    <p:sldId id="349" r:id="rId14"/>
    <p:sldId id="350" r:id="rId15"/>
    <p:sldId id="351" r:id="rId16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70614" autoAdjust="0"/>
  </p:normalViewPr>
  <p:slideViewPr>
    <p:cSldViewPr snapToGrid="0">
      <p:cViewPr varScale="1">
        <p:scale>
          <a:sx n="115" d="100"/>
          <a:sy n="115" d="100"/>
        </p:scale>
        <p:origin x="3168" y="2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B6E521-8E4A-4C06-94A0-97F66F23EF09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866DC3-BF4C-468D-A911-7184754996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388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866DC3-BF4C-468D-A911-7184754996B9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5833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C807F8-96FE-4B6B-9976-25B2C81C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EB13CD-C2A8-463C-A1E3-F283E3A14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96F56C-9A29-4079-9762-884D4F0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6104F-2A01-4988-ABF5-B5EDC8E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782083-38E5-46B2-BF35-5F0ADF387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505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DE9BC4-C51B-4752-BA5D-EB14C7D9B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2D99C2-BF26-44A3-A3A3-4391DD010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93B655-8FEA-4C88-8006-CF26AA1DA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4D09F5-8DA2-4B72-BEEA-730A3174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3DC4FB-0EA5-4E35-A57B-45AC434E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7841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A2CCE2-56ED-4B87-91AF-E012D1DBE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555736C-E729-4B87-AB9B-597F9E509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C321A7-EF94-401D-BBBB-06040B746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59D683-5287-413D-8B54-BB01B6586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6F9BAF-01A9-4E96-AB4E-B95CBDDB2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4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321C11-D40C-4D13-A362-14C4912A9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DEBFA6-D181-484B-A3F3-AFE03DFEE2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AB23B5-6317-4753-B01D-A8B987A27A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AF85BDB-72D0-42CA-AB21-174B2FE74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8F16869-3898-432E-9169-9AF3FC557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09770C-CC0F-4DC2-89CA-50CE1847C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9336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F86377-FDDA-48CE-B233-FF1169EB8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169E85E-8036-4A3C-AE31-BD91245D3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6C75EEE-7FC4-42C0-A8BB-6B70315BD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0EB0AA9-090D-40A6-A3B4-59B631AF4A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6501FE8-5B4E-4F3D-A96E-94BF191BF5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D48C01D-C7E1-41F2-8C54-65D538178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A15BD7D-3EC0-46AA-9AC8-42D293AA8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2F9611D-DEE7-43A7-9651-4CA8FC79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454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AE907A-A35E-4B71-A514-BEC20770B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3B1AE98-AEE4-49B5-B180-99C9F428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C8895FC-FC6F-471F-BF37-C3ECD740F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6F161D3-D0F7-40F3-976D-1EA192A27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607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9261D5D-9108-4279-B148-5AB6DC072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5C2122F-2101-4936-BC8B-133A25E81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0B4F29-96D4-4457-A577-B4608697C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1782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83F289-A4FD-4F7C-B9DB-98BF51872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FE902C-A553-49BC-ACBA-414938252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DB8EE81-15A3-4FBF-8B60-E6E986D10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B028689-B49B-457C-A0DA-E47749DB5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6F4114-F76B-4889-9E17-C3F8EE88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D780F3-E83D-47CC-98F0-270211BC5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2086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724BA6-06E3-40A3-8E8D-201431BAA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34DACB3-B229-4C2E-837F-6014FAE2B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8E06628-5432-4EB9-95D8-49F9E21079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5A2231-7F0E-4E9E-8C5D-CCFCD604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DB2B12-536B-4CA7-9332-BF4A45D32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00250B3-0794-46A8-9013-9B12D5DA5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7107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6E1058-36F7-484D-99E5-F8437405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8AD6C-A21A-4045-B83E-EDBD0AEEA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9AB741-BDB2-4464-8478-07837ABAC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39CB25-1E8C-42FA-AC47-B0C568ADB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573C3D-0B53-4AB9-9DEE-6938D436B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982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81DCB28-1D23-42FD-8648-4CF6BB39E9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F3A87E-6B87-4800-841C-3936B93421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46F574-6D0C-44C8-8992-8955C3B44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238BBB-C24C-44F4-B224-72512B037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40826C-1999-4CC9-9681-6B3B23ED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8293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6EB0A56-23E4-440F-9F98-0194C9AE49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7D35652-CA92-4791-B093-9FF186110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4F2AAB7-9927-4A65-82EE-728DBCD67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C967706-FDFA-4D75-ACD4-58B6ACBF1724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79206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BC5DB0C-5CEB-4526-ACF9-B63EBFE5E5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694B582-5C79-45D0-95AF-68FD32E08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EC98596-763D-48BE-9138-B77DBDCAD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D55CD03-342B-4FE5-8C92-5D5D7C4811E8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6042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 algn="l">
              <a:defRPr sz="45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76ED522-3EA4-4EB0-BC62-83321C0B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4A1E05E-2E9E-42FA-BE3B-663DE40B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A8F3692-7AC2-4F8B-8C2F-C27E67C0D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34CDC7-E7D1-4593-929A-791BA3BDF9A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717247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EED525-5A54-4FE8-AA3C-871AB0AEC4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BAD784-FB96-4D41-BE37-080BEB490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428A99-3121-4C40-BB4E-3A6FE573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202676-0631-4FF9-A8A8-25EFA1B0E26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805986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970222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44793" y="1567346"/>
            <a:ext cx="3526380" cy="710095"/>
          </a:xfrm>
        </p:spPr>
        <p:txBody>
          <a:bodyPr anchor="ctr">
            <a:norm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44793" y="2338388"/>
            <a:ext cx="3526380" cy="378596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717212" y="1567346"/>
            <a:ext cx="3526381" cy="710095"/>
          </a:xfrm>
        </p:spPr>
        <p:txBody>
          <a:bodyPr rtlCol="0" anchor="ctr">
            <a:normAutofit/>
          </a:bodyPr>
          <a:lstStyle>
            <a:lvl1pPr marL="171450" indent="-171450">
              <a:buNone/>
              <a:defRPr lang="zh-CN" altLang="en-US" b="0" smtClean="0"/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717212" y="2357460"/>
            <a:ext cx="3526381" cy="376689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023C747-FE34-44C9-97C2-1A9C856D00D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DEADDC5F-3E24-44AE-AA9D-2CF75B49B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A329934-CD01-4521-BD91-C76182BCB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569E53-8CD8-4F87-A9D7-968E40BEBE9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075235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14D582-CB73-4F8B-8A60-2CFF6D2B4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E72E589-A010-4FBC-A155-7CA0B943B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5442101-4094-4602-89A2-75E91034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077B2A0-898C-407D-A657-9856DDF4B937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262426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7BA3AE1F-123C-48B4-9324-66270A3BBC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038293E-40CB-4567-B7E5-CE00D2742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05F546E-B1B5-4F94-8369-BA6446072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28C5D3-60CD-46B6-9F06-B7101161053C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811155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DC91BC-589A-4C65-90D9-1D7A390B00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FEAF33-C8DB-4D2A-B301-5F8664213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6DADA3-826C-4545-BBFB-B559D3E11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3DECB9F-346E-47E6-93BD-04C7F03E0210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37511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95638" cy="1600200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038600" y="457201"/>
            <a:ext cx="4477941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95638" cy="381158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7AD2B-C94B-4C6A-862A-8C7CD4FC0E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26A6E6-EA85-4CC4-80B1-1CD55F15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C69EBD-9DE7-4B78-9606-D8D02E4B4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186579-9A5E-4A38-A15A-6E2DEE7E3788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601134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1E1A731-E491-42BC-9471-3E294B77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3A110F3-C4B4-46CD-A154-F8AA4390F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0E0530-780E-4B9D-A8B7-41D5A7216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97C58C-3849-45F7-B310-325B181171E3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17064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64BA080-5619-4C44-B8EA-D86CE2CADE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20529F9-B0A3-4A9E-89C6-35E30FC18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3F1A087-7A01-466C-BD06-2DD410F40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8A6088-43A4-4884-971C-4A113A1F500F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086787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8B44A-BB06-4B5E-9869-038E8EE1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BDA1BD-E5EF-44F1-99F6-AA5107051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x-non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E3BD15-844F-4AEC-B972-3E6C639FE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2F2799B-135D-4F86-ABB8-970904C57084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68018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22BD302-1E53-4971-A59C-535ED08FD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D0DC471-EF79-4BCB-B455-263A5FCC6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037BC4-142F-4F92-8E37-7233B3D088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D314DF-B90C-4A41-815C-485008374358}" type="datetimeFigureOut">
              <a:rPr lang="zh-CN" altLang="en-US" smtClean="0"/>
              <a:t>2026/09/09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79AE5D-62B9-4FCA-800F-0116C7C7B3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F25EBE-21A6-4BA4-AD6C-A3A71E3C2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AF3D1-7287-4650-93C1-2E28CB4F5A5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840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2FF6B44-E635-437D-B59A-E72155DEE42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D2274DBB-51DC-45B2-BF59-F4390190F6D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E9F9112-2751-41AF-9281-0D2CC62E80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/>
          </a:ln>
        </p:spPr>
        <p:txBody>
          <a:bodyPr/>
          <a:lstStyle>
            <a:lvl1pPr>
              <a:defRPr sz="1400" noProof="1" dirty="0">
                <a:cs typeface="+mn-ea"/>
              </a:defRPr>
            </a:lvl1pPr>
          </a:lstStyle>
          <a:p>
            <a:fld id="{BB962C8B-B14F-4D97-AF65-F5344CB8AC3E}" type="datetime1">
              <a:rPr lang="zh-CN" altLang="en-US"/>
              <a:pPr/>
              <a:t>2026/09/09</a:t>
            </a:fld>
            <a:endParaRPr lang="zh-CN" altLang="en-US">
              <a:cs typeface="+mn-cs"/>
            </a:endParaRP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ED0B325C-0412-4912-95BF-B03E0C1E3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/>
          </a:ln>
        </p:spPr>
        <p:txBody>
          <a:bodyPr/>
          <a:lstStyle>
            <a:lvl1pPr algn="ctr">
              <a:defRPr sz="1400" noProof="1" dirty="0"/>
            </a:lvl1pPr>
          </a:lstStyle>
          <a:p>
            <a:endParaRPr lang="en-US" altLang="x-none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A47EFC2-3493-4B5D-ADEE-4F5541A0A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2EFA9339-C95D-4753-8778-D7D0632B132A}" type="slidenum">
              <a:rPr lang="en-US" altLang="zh-CN"/>
              <a:pPr/>
              <a:t>‹#›</a:t>
            </a:fld>
            <a:endParaRPr lang="en-US" altLang="zh-CN"/>
          </a:p>
        </p:txBody>
      </p:sp>
      <p:pic>
        <p:nvPicPr>
          <p:cNvPr id="1031" name="图片 1030" descr="03">
            <a:extLst>
              <a:ext uri="{FF2B5EF4-FFF2-40B4-BE49-F238E27FC236}">
                <a16:creationId xmlns:a16="http://schemas.microsoft.com/office/drawing/2014/main" id="{D1722124-4153-420A-A0FB-20FB067B3E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8925" y="-212725"/>
            <a:ext cx="9752013" cy="7313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9953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0" fontAlgn="base" latinLnBrk="0" hangingPunct="0"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0" fontAlgn="base" latinLnBrk="0" hangingPunct="0"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0" fontAlgn="base" latinLnBrk="0" hangingPunct="0"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0" fontAlgn="base" latinLnBrk="0" hangingPunct="0"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0" fontAlgn="base" latinLnBrk="0" hangingPunct="0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lvl="2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lvl="3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lvl="4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286000" lvl="5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743200" lvl="6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400" lvl="7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657600" lvl="8" indent="0" algn="l" defTabSz="914400" eaLnBrk="1" fontAlgn="base" latinLnBrk="0" hangingPunct="1"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标题 3073">
            <a:extLst>
              <a:ext uri="{FF2B5EF4-FFF2-40B4-BE49-F238E27FC236}">
                <a16:creationId xmlns:a16="http://schemas.microsoft.com/office/drawing/2014/main" id="{38D36ED5-5D9E-43D2-8289-1A3982198C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4" name="文本占位符 3074">
            <a:extLst>
              <a:ext uri="{FF2B5EF4-FFF2-40B4-BE49-F238E27FC236}">
                <a16:creationId xmlns:a16="http://schemas.microsoft.com/office/drawing/2014/main" id="{3AEF3C60-0960-4E84-8FB4-D942441BEE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5" name="图片 3075" descr="01">
            <a:extLst>
              <a:ext uri="{FF2B5EF4-FFF2-40B4-BE49-F238E27FC236}">
                <a16:creationId xmlns:a16="http://schemas.microsoft.com/office/drawing/2014/main" id="{D523FCA1-A4FE-4BB8-9705-616C22FC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9400" y="-227013"/>
            <a:ext cx="9732963" cy="7342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6" name="Rectangle 2">
            <a:extLst>
              <a:ext uri="{FF2B5EF4-FFF2-40B4-BE49-F238E27FC236}">
                <a16:creationId xmlns:a16="http://schemas.microsoft.com/office/drawing/2014/main" id="{7A61E1DA-1545-4560-86C5-3078CFC7A0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1628775"/>
            <a:ext cx="7772400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/>
            <a:br>
              <a:rPr lang="zh-CN" altLang="en-US" sz="44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4400" b="1">
                <a:solidFill>
                  <a:schemeClr val="tx2"/>
                </a:solidFill>
                <a:latin typeface="宋体" panose="02010600030101010101" pitchFamily="2" charset="-122"/>
              </a:rPr>
              <a:t>实验基础（</a:t>
            </a:r>
            <a:r>
              <a:rPr lang="en-US" altLang="zh-CN" sz="4400" b="1">
                <a:solidFill>
                  <a:schemeClr val="tx2"/>
                </a:solidFill>
                <a:latin typeface="宋体" panose="02010600030101010101" pitchFamily="2" charset="-122"/>
              </a:rPr>
              <a:t>1</a:t>
            </a:r>
            <a:r>
              <a:rPr lang="zh-CN" altLang="en-US" sz="4400" b="1">
                <a:solidFill>
                  <a:schemeClr val="tx2"/>
                </a:solidFill>
                <a:latin typeface="宋体" panose="02010600030101010101" pitchFamily="2" charset="-122"/>
              </a:rPr>
              <a:t>）</a:t>
            </a:r>
          </a:p>
        </p:txBody>
      </p:sp>
      <p:sp>
        <p:nvSpPr>
          <p:cNvPr id="3077" name="文本框 3077">
            <a:extLst>
              <a:ext uri="{FF2B5EF4-FFF2-40B4-BE49-F238E27FC236}">
                <a16:creationId xmlns:a16="http://schemas.microsoft.com/office/drawing/2014/main" id="{BD7A9B2E-94D4-4C0F-830B-12B39274AB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3713" y="5734050"/>
            <a:ext cx="403507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dirty="0"/>
              <a:t>黄倩怡 </a:t>
            </a:r>
            <a:r>
              <a:rPr lang="en-US" altLang="zh-CN" dirty="0"/>
              <a:t>huangqy89@mail.sysu.edu.cn</a:t>
            </a:r>
            <a:endParaRPr lang="zh-CN" altLang="en-US" dirty="0"/>
          </a:p>
        </p:txBody>
      </p:sp>
      <p:sp>
        <p:nvSpPr>
          <p:cNvPr id="3078" name="灯片编号占位符 1">
            <a:extLst>
              <a:ext uri="{FF2B5EF4-FFF2-40B4-BE49-F238E27FC236}">
                <a16:creationId xmlns:a16="http://schemas.microsoft.com/office/drawing/2014/main" id="{A5BDDCDD-BDF2-4ECF-B23A-19AA63DC9F1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fld id="{C2FEE5FF-5678-4A4D-930A-E255DFAF5E71}" type="slidenum">
              <a:rPr lang="en-US" altLang="zh-CN"/>
              <a:pPr/>
              <a:t>1</a:t>
            </a:fld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标题 30721">
            <a:extLst>
              <a:ext uri="{FF2B5EF4-FFF2-40B4-BE49-F238E27FC236}">
                <a16:creationId xmlns:a16="http://schemas.microsoft.com/office/drawing/2014/main" id="{8959A213-5276-4C13-A994-7152002F69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8313" y="476250"/>
            <a:ext cx="8229600" cy="1143000"/>
          </a:xfrm>
        </p:spPr>
        <p:txBody>
          <a:bodyPr/>
          <a:lstStyle/>
          <a:p>
            <a:r>
              <a:rPr lang="zh-CN" altLang="en-US" b="1">
                <a:latin typeface="宋体" panose="02010600030101010101" pitchFamily="2" charset="-122"/>
              </a:rPr>
              <a:t>常用</a:t>
            </a:r>
            <a:r>
              <a:rPr lang="en-US" altLang="zh-CN" b="1">
                <a:latin typeface="宋体" panose="02010600030101010101" pitchFamily="2" charset="-122"/>
              </a:rPr>
              <a:t>DOS</a:t>
            </a:r>
            <a:r>
              <a:rPr lang="zh-CN" altLang="en-US" b="1">
                <a:latin typeface="宋体" panose="02010600030101010101" pitchFamily="2" charset="-122"/>
              </a:rPr>
              <a:t>命令</a:t>
            </a:r>
            <a:r>
              <a:rPr lang="en-US" altLang="zh-CN" b="1">
                <a:latin typeface="宋体" panose="02010600030101010101" pitchFamily="2" charset="-122"/>
              </a:rPr>
              <a:t>(P1-13)</a:t>
            </a:r>
            <a:endParaRPr lang="zh-CN" altLang="en-US" b="1">
              <a:latin typeface="宋体" panose="02010600030101010101" pitchFamily="2" charset="-122"/>
            </a:endParaRPr>
          </a:p>
        </p:txBody>
      </p:sp>
      <p:sp>
        <p:nvSpPr>
          <p:cNvPr id="31746" name="文本占位符 30722">
            <a:extLst>
              <a:ext uri="{FF2B5EF4-FFF2-40B4-BE49-F238E27FC236}">
                <a16:creationId xmlns:a16="http://schemas.microsoft.com/office/drawing/2014/main" id="{B9A726B4-8258-46DB-A9FB-E842FC1791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41338" y="1917700"/>
            <a:ext cx="7848600" cy="46101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zh-CN" b="1">
                <a:latin typeface="Times New Roman" panose="02020603050405020304" pitchFamily="18" charset="0"/>
              </a:rPr>
              <a:t>ping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CN" b="1">
                <a:latin typeface="Times New Roman" panose="02020603050405020304" pitchFamily="18" charset="0"/>
              </a:rPr>
              <a:t>tracert</a:t>
            </a:r>
            <a:r>
              <a:rPr lang="zh-CN" altLang="en-US" b="1">
                <a:latin typeface="Times New Roman" panose="02020603050405020304" pitchFamily="18" charset="0"/>
              </a:rPr>
              <a:t>命令 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CN" b="1">
                <a:latin typeface="Times New Roman" panose="02020603050405020304" pitchFamily="18" charset="0"/>
              </a:rPr>
              <a:t>ipconfig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CN" b="1">
                <a:latin typeface="Times New Roman" panose="02020603050405020304" pitchFamily="18" charset="0"/>
              </a:rPr>
              <a:t>netstat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en-US" altLang="zh-CN" b="1">
                <a:latin typeface="Times New Roman" panose="02020603050405020304" pitchFamily="18" charset="0"/>
              </a:rPr>
              <a:t>arp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fr-FR" altLang="en-US" b="1">
                <a:latin typeface="Times New Roman" panose="02020603050405020304" pitchFamily="18" charset="0"/>
              </a:rPr>
              <a:t>route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Tx/>
              <a:buNone/>
            </a:pPr>
            <a:endParaRPr lang="zh-CN" altLang="en-US">
              <a:latin typeface="Times New Roman" panose="02020603050405020304" pitchFamily="18" charset="0"/>
            </a:endParaRPr>
          </a:p>
          <a:p>
            <a:pPr>
              <a:buFontTx/>
              <a:buNone/>
            </a:pPr>
            <a:endParaRPr lang="zh-CN" altLang="en-US">
              <a:latin typeface="Times New Roman" panose="02020603050405020304" pitchFamily="18" charset="0"/>
            </a:endParaRPr>
          </a:p>
          <a:p>
            <a:pPr>
              <a:buFontTx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747" name="灯片编号占位符 1">
            <a:extLst>
              <a:ext uri="{FF2B5EF4-FFF2-40B4-BE49-F238E27FC236}">
                <a16:creationId xmlns:a16="http://schemas.microsoft.com/office/drawing/2014/main" id="{29EE2BF0-4D86-4198-BCA7-530C08B6886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EA8D4FA2-9F31-400A-A173-7A4B6BB26166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2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标题 31745">
            <a:extLst>
              <a:ext uri="{FF2B5EF4-FFF2-40B4-BE49-F238E27FC236}">
                <a16:creationId xmlns:a16="http://schemas.microsoft.com/office/drawing/2014/main" id="{F2317440-7C75-420C-9A06-4BD64B5730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76250"/>
            <a:ext cx="8229600" cy="1143000"/>
          </a:xfrm>
        </p:spPr>
        <p:txBody>
          <a:bodyPr/>
          <a:lstStyle/>
          <a:p>
            <a:r>
              <a:rPr lang="en-US" altLang="zh-CN" sz="4000" b="1">
                <a:latin typeface="Times New Roman" panose="02020603050405020304" pitchFamily="18" charset="0"/>
              </a:rPr>
              <a:t>Ping</a:t>
            </a:r>
            <a:r>
              <a:rPr lang="zh-CN" altLang="en-US" sz="4000" b="1">
                <a:latin typeface="Times New Roman" panose="02020603050405020304" pitchFamily="18" charset="0"/>
              </a:rPr>
              <a:t>命令</a:t>
            </a:r>
            <a:endParaRPr lang="zh-CN" altLang="en-US" sz="4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770" name="文本占位符 31746">
            <a:extLst>
              <a:ext uri="{FF2B5EF4-FFF2-40B4-BE49-F238E27FC236}">
                <a16:creationId xmlns:a16="http://schemas.microsoft.com/office/drawing/2014/main" id="{2683221E-93DA-43CE-A65B-74A1A63B87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95288" y="1557338"/>
            <a:ext cx="8553450" cy="5029200"/>
          </a:xfrm>
        </p:spPr>
        <p:txBody>
          <a:bodyPr/>
          <a:lstStyle/>
          <a:p>
            <a:r>
              <a:rPr lang="zh-CN" altLang="en-US" sz="2800" dirty="0">
                <a:latin typeface="Times New Roman" panose="02020603050405020304" pitchFamily="18" charset="0"/>
              </a:rPr>
              <a:t>在</a:t>
            </a:r>
            <a:r>
              <a:rPr lang="en-US" altLang="zh-CN" sz="2800" dirty="0">
                <a:latin typeface="Times New Roman" panose="02020603050405020304" pitchFamily="18" charset="0"/>
              </a:rPr>
              <a:t>Windows</a:t>
            </a:r>
            <a:r>
              <a:rPr lang="zh-CN" altLang="en-US" sz="2800" dirty="0">
                <a:latin typeface="Times New Roman" panose="02020603050405020304" pitchFamily="18" charset="0"/>
              </a:rPr>
              <a:t>环境下，</a:t>
            </a:r>
            <a:r>
              <a:rPr lang="en-US" altLang="zh-CN" sz="2800" dirty="0">
                <a:latin typeface="Times New Roman" panose="02020603050405020304" pitchFamily="18" charset="0"/>
              </a:rPr>
              <a:t>ping</a:t>
            </a:r>
            <a:r>
              <a:rPr lang="zh-CN" altLang="en-US" sz="2800" dirty="0">
                <a:latin typeface="Times New Roman" panose="02020603050405020304" pitchFamily="18" charset="0"/>
              </a:rPr>
              <a:t>命令语法如下：</a:t>
            </a:r>
            <a:r>
              <a:rPr lang="zh-CN" altLang="en-US" dirty="0">
                <a:latin typeface="Times New Roman" panose="02020603050405020304" pitchFamily="18" charset="0"/>
              </a:rPr>
              <a:t>  </a:t>
            </a:r>
          </a:p>
          <a:p>
            <a:pPr>
              <a:buFontTx/>
              <a:buNone/>
            </a:pP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</a:t>
            </a:r>
            <a:r>
              <a:rPr lang="en-US" altLang="zh-CN" sz="2800" dirty="0">
                <a:latin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[-t] [-a] [-n count] [-l size] [-f] [-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TTL] [-v TOS] </a:t>
            </a:r>
          </a:p>
          <a:p>
            <a:pPr>
              <a:buFontTx/>
              <a:buNone/>
            </a:pP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[-r count] [-s count] [[-j host-list] | [-k host-list]] </a:t>
            </a:r>
          </a:p>
          <a:p>
            <a:pPr>
              <a:buFontTx/>
              <a:buNone/>
            </a:pP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     [-w timeout]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target_name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最常用形式：</a:t>
            </a:r>
            <a:r>
              <a:rPr lang="en-US" altLang="zh-CN" dirty="0">
                <a:latin typeface="Times New Roman" panose="02020603050405020304" pitchFamily="18" charset="0"/>
              </a:rPr>
              <a:t>“ping IP</a:t>
            </a:r>
            <a:r>
              <a:rPr lang="zh-CN" altLang="en-US" dirty="0">
                <a:latin typeface="Times New Roman" panose="02020603050405020304" pitchFamily="18" charset="0"/>
              </a:rPr>
              <a:t>地址”或“</a:t>
            </a:r>
            <a:r>
              <a:rPr lang="en-US" altLang="zh-CN" dirty="0">
                <a:latin typeface="Times New Roman" panose="02020603050405020304" pitchFamily="18" charset="0"/>
              </a:rPr>
              <a:t>ping </a:t>
            </a:r>
            <a:r>
              <a:rPr lang="zh-CN" altLang="en-US" dirty="0">
                <a:latin typeface="Times New Roman" panose="02020603050405020304" pitchFamily="18" charset="0"/>
              </a:rPr>
              <a:t>域名” </a:t>
            </a:r>
            <a:endParaRPr lang="zh-CN" altLang="en-US" sz="2800" dirty="0">
              <a:latin typeface="Times New Roman" panose="02020603050405020304" pitchFamily="18" charset="0"/>
            </a:endParaRPr>
          </a:p>
          <a:p>
            <a:endParaRPr lang="en-US" altLang="zh-CN" sz="2800" dirty="0">
              <a:latin typeface="Times New Roman" panose="02020603050405020304" pitchFamily="18" charset="0"/>
            </a:endParaRPr>
          </a:p>
          <a:p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771" name="灯片编号占位符 1">
            <a:extLst>
              <a:ext uri="{FF2B5EF4-FFF2-40B4-BE49-F238E27FC236}">
                <a16:creationId xmlns:a16="http://schemas.microsoft.com/office/drawing/2014/main" id="{FB5EA156-EB1A-450E-9567-7B706EE85C3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213998AD-7A2C-47E2-B00C-E2AC3B44A483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3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文本占位符 32769">
            <a:extLst>
              <a:ext uri="{FF2B5EF4-FFF2-40B4-BE49-F238E27FC236}">
                <a16:creationId xmlns:a16="http://schemas.microsoft.com/office/drawing/2014/main" id="{F13B6C3F-F624-48FB-8419-D64C5AC8BF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76263" y="1628775"/>
            <a:ext cx="8532812" cy="4824413"/>
          </a:xfrm>
        </p:spPr>
        <p:txBody>
          <a:bodyPr/>
          <a:lstStyle/>
          <a:p>
            <a:pPr>
              <a:buFontTx/>
              <a:buNone/>
            </a:pPr>
            <a:r>
              <a:rPr lang="zh-CN" altLang="en-US" dirty="0">
                <a:latin typeface="Times New Roman" panose="02020603050405020304" pitchFamily="18" charset="0"/>
              </a:rPr>
              <a:t>实例</a:t>
            </a:r>
          </a:p>
          <a:p>
            <a:r>
              <a:rPr lang="en-US" altLang="zh-CN" dirty="0">
                <a:latin typeface="Times New Roman" panose="02020603050405020304" pitchFamily="18" charset="0"/>
              </a:rPr>
              <a:t>C:\&gt; 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 www.sysu.edu.cn</a:t>
            </a:r>
            <a:endParaRPr lang="en-US" altLang="zh-CN" dirty="0">
              <a:latin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</a:rPr>
              <a:t>C:\&gt; 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 202.116.64.8</a:t>
            </a:r>
            <a:r>
              <a:rPr lang="en-US" altLang="zh-CN" dirty="0">
                <a:latin typeface="Times New Roman" panose="02020603050405020304" pitchFamily="18" charset="0"/>
              </a:rPr>
              <a:t> </a:t>
            </a:r>
          </a:p>
          <a:p>
            <a:r>
              <a:rPr lang="en-US" altLang="zh-CN" dirty="0">
                <a:latin typeface="Times New Roman" panose="02020603050405020304" pitchFamily="18" charset="0"/>
              </a:rPr>
              <a:t>C:\&gt; 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 –t www.sysu.edu.cn</a:t>
            </a:r>
          </a:p>
          <a:p>
            <a:r>
              <a:rPr lang="en-US" altLang="zh-CN" dirty="0">
                <a:latin typeface="Times New Roman" panose="02020603050405020304" pitchFamily="18" charset="0"/>
              </a:rPr>
              <a:t>C:\&gt; 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 -f -l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</a:rPr>
              <a:t>1472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 8.8.8.8</a:t>
            </a:r>
          </a:p>
          <a:p>
            <a:r>
              <a:rPr lang="en-US" altLang="zh-CN" dirty="0">
                <a:latin typeface="Times New Roman" panose="02020603050405020304" pitchFamily="18" charset="0"/>
              </a:rPr>
              <a:t>C:\&gt; 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ping -</a:t>
            </a:r>
            <a:r>
              <a:rPr lang="en-US" altLang="zh-CN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</a:rPr>
              <a:t>5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 8.8.8.8</a:t>
            </a:r>
            <a:endParaRPr lang="zh-CN" altLang="en-US" dirty="0">
              <a:solidFill>
                <a:schemeClr val="accent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794" name="标题 32770">
            <a:extLst>
              <a:ext uri="{FF2B5EF4-FFF2-40B4-BE49-F238E27FC236}">
                <a16:creationId xmlns:a16="http://schemas.microsoft.com/office/drawing/2014/main" id="{46147815-899D-4AC5-98E7-94FD1884CCB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68313" y="549275"/>
            <a:ext cx="8229600" cy="1143000"/>
          </a:xfrm>
        </p:spPr>
        <p:txBody>
          <a:bodyPr/>
          <a:lstStyle/>
          <a:p>
            <a:r>
              <a:rPr lang="en-US" altLang="zh-CN" b="1">
                <a:latin typeface="宋体" panose="02010600030101010101" pitchFamily="2" charset="-122"/>
              </a:rPr>
              <a:t>Ping</a:t>
            </a:r>
            <a:r>
              <a:rPr lang="zh-CN" altLang="en-US" b="1">
                <a:latin typeface="宋体" panose="02010600030101010101" pitchFamily="2" charset="-122"/>
              </a:rPr>
              <a:t>命令</a:t>
            </a:r>
          </a:p>
        </p:txBody>
      </p:sp>
      <p:sp>
        <p:nvSpPr>
          <p:cNvPr id="33795" name="文本框 32771">
            <a:extLst>
              <a:ext uri="{FF2B5EF4-FFF2-40B4-BE49-F238E27FC236}">
                <a16:creationId xmlns:a16="http://schemas.microsoft.com/office/drawing/2014/main" id="{5FF512E2-5AA7-471B-8B63-D9C8FBE57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5013" y="5465763"/>
            <a:ext cx="7802562" cy="82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养成良好的实验习惯：尝试上述命令，记下显示的结果，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并进一步分析结果</a:t>
            </a:r>
          </a:p>
        </p:txBody>
      </p:sp>
      <p:sp>
        <p:nvSpPr>
          <p:cNvPr id="33796" name="灯片编号占位符 1">
            <a:extLst>
              <a:ext uri="{FF2B5EF4-FFF2-40B4-BE49-F238E27FC236}">
                <a16:creationId xmlns:a16="http://schemas.microsoft.com/office/drawing/2014/main" id="{84303A6D-7864-45EE-8836-C3CF2FC0208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82A32765-0ACC-410E-9269-7DE4F94C9F9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4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标题 33793">
            <a:extLst>
              <a:ext uri="{FF2B5EF4-FFF2-40B4-BE49-F238E27FC236}">
                <a16:creationId xmlns:a16="http://schemas.microsoft.com/office/drawing/2014/main" id="{B47789F1-9DFA-4895-AE5A-5749BF1FEB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000" b="1">
                <a:latin typeface="宋体" panose="02010600030101010101" pitchFamily="2" charset="-122"/>
              </a:rPr>
              <a:t>tracert</a:t>
            </a:r>
            <a:r>
              <a:rPr lang="zh-CN" altLang="en-US" sz="4000" b="1">
                <a:latin typeface="宋体" panose="02010600030101010101" pitchFamily="2" charset="-122"/>
              </a:rPr>
              <a:t>命令</a:t>
            </a:r>
          </a:p>
        </p:txBody>
      </p:sp>
      <p:sp>
        <p:nvSpPr>
          <p:cNvPr id="34818" name="文本占位符 33794">
            <a:extLst>
              <a:ext uri="{FF2B5EF4-FFF2-40B4-BE49-F238E27FC236}">
                <a16:creationId xmlns:a16="http://schemas.microsoft.com/office/drawing/2014/main" id="{5DE58E88-CB23-4D4B-A35D-4CC4201E28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412875"/>
            <a:ext cx="8229600" cy="5445125"/>
          </a:xfrm>
        </p:spPr>
        <p:txBody>
          <a:bodyPr/>
          <a:lstStyle/>
          <a:p>
            <a:r>
              <a:rPr lang="zh-CN" altLang="en-US" sz="2800" dirty="0">
                <a:latin typeface="Times New Roman" panose="02020603050405020304" pitchFamily="18" charset="0"/>
              </a:rPr>
              <a:t>t</a:t>
            </a:r>
            <a:r>
              <a:rPr lang="en-US" altLang="zh-CN" sz="2800" dirty="0" err="1">
                <a:latin typeface="Times New Roman" panose="02020603050405020304" pitchFamily="18" charset="0"/>
              </a:rPr>
              <a:t>racert</a:t>
            </a:r>
            <a:r>
              <a:rPr lang="zh-CN" altLang="en-US" sz="2800" dirty="0">
                <a:latin typeface="Times New Roman" panose="02020603050405020304" pitchFamily="18" charset="0"/>
              </a:rPr>
              <a:t>（跟踪路由）是路由跟踪实用程序，用于获得</a:t>
            </a:r>
            <a:r>
              <a:rPr lang="en-US" altLang="zh-CN" sz="2800" dirty="0">
                <a:latin typeface="Times New Roman" panose="02020603050405020304" pitchFamily="18" charset="0"/>
              </a:rPr>
              <a:t>IP</a:t>
            </a:r>
            <a:r>
              <a:rPr lang="zh-CN" altLang="en-US" sz="2800" dirty="0">
                <a:latin typeface="Times New Roman" panose="02020603050405020304" pitchFamily="18" charset="0"/>
              </a:rPr>
              <a:t>数据报访问目标时从本地计算机到目的主机的路径信息。 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在</a:t>
            </a:r>
            <a:r>
              <a:rPr lang="en-US" altLang="zh-CN" sz="2800" dirty="0">
                <a:latin typeface="Times New Roman" panose="02020603050405020304" pitchFamily="18" charset="0"/>
              </a:rPr>
              <a:t>Windows</a:t>
            </a:r>
            <a:r>
              <a:rPr lang="zh-CN" altLang="en-US" sz="2800" dirty="0">
                <a:latin typeface="Times New Roman" panose="02020603050405020304" pitchFamily="18" charset="0"/>
              </a:rPr>
              <a:t>环境下，</a:t>
            </a:r>
            <a:r>
              <a:rPr lang="en-US" altLang="zh-CN" sz="2800" dirty="0">
                <a:latin typeface="Times New Roman" panose="02020603050405020304" pitchFamily="18" charset="0"/>
              </a:rPr>
              <a:t>Tracert</a:t>
            </a:r>
            <a:r>
              <a:rPr lang="zh-CN" altLang="en-US" sz="2800" dirty="0">
                <a:latin typeface="Times New Roman" panose="02020603050405020304" pitchFamily="18" charset="0"/>
              </a:rPr>
              <a:t>命令语法如下：  </a:t>
            </a:r>
          </a:p>
          <a:p>
            <a:pPr>
              <a:buFontTx/>
              <a:buNone/>
            </a:pP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tracert [-d] [-h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maximum_hops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 [-j host-list][-w timeout]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target_name</a:t>
            </a:r>
            <a:endParaRPr lang="en-US" altLang="zh-CN" sz="2800" dirty="0">
              <a:solidFill>
                <a:schemeClr val="accent2"/>
              </a:solidFill>
              <a:latin typeface="Times New Roman" panose="02020603050405020304" pitchFamily="18" charset="0"/>
            </a:endParaRP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最常用形式：</a:t>
            </a:r>
            <a:r>
              <a:rPr lang="en-US" altLang="zh-CN" dirty="0">
                <a:latin typeface="Times New Roman" panose="02020603050405020304" pitchFamily="18" charset="0"/>
              </a:rPr>
              <a:t>“</a:t>
            </a:r>
            <a:r>
              <a:rPr lang="en-US" altLang="zh-CN" sz="2800" dirty="0">
                <a:latin typeface="Times New Roman" panose="02020603050405020304" pitchFamily="18" charset="0"/>
              </a:rPr>
              <a:t>tracert</a:t>
            </a:r>
            <a:r>
              <a:rPr lang="en-US" altLang="zh-CN" dirty="0">
                <a:latin typeface="Times New Roman" panose="02020603050405020304" pitchFamily="18" charset="0"/>
              </a:rPr>
              <a:t> IP</a:t>
            </a:r>
            <a:r>
              <a:rPr lang="zh-CN" altLang="en-US" dirty="0">
                <a:latin typeface="Times New Roman" panose="02020603050405020304" pitchFamily="18" charset="0"/>
              </a:rPr>
              <a:t>地址”或“</a:t>
            </a:r>
            <a:r>
              <a:rPr lang="en-US" altLang="zh-CN" sz="2800" dirty="0">
                <a:latin typeface="Times New Roman" panose="02020603050405020304" pitchFamily="18" charset="0"/>
              </a:rPr>
              <a:t>tracert </a:t>
            </a:r>
            <a:r>
              <a:rPr lang="zh-CN" altLang="en-US" dirty="0">
                <a:latin typeface="Times New Roman" panose="02020603050405020304" pitchFamily="18" charset="0"/>
              </a:rPr>
              <a:t>域名” </a:t>
            </a:r>
          </a:p>
          <a:p>
            <a:pPr>
              <a:buFontTx/>
              <a:buNone/>
            </a:pP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19" name="灯片编号占位符 1">
            <a:extLst>
              <a:ext uri="{FF2B5EF4-FFF2-40B4-BE49-F238E27FC236}">
                <a16:creationId xmlns:a16="http://schemas.microsoft.com/office/drawing/2014/main" id="{5C5892CE-6B4C-44E0-8615-2418AA8D78D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CB14F571-7289-4BEA-A29F-EF10BC000103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5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Rectangle 2">
            <a:extLst>
              <a:ext uri="{FF2B5EF4-FFF2-40B4-BE49-F238E27FC236}">
                <a16:creationId xmlns:a16="http://schemas.microsoft.com/office/drawing/2014/main" id="{50AA7E14-637E-4BAB-AB1C-1DC15EBF243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zh-CN" b="1">
                <a:latin typeface="宋体" panose="02010600030101010101" pitchFamily="2" charset="-122"/>
              </a:rPr>
              <a:t>tracert</a:t>
            </a:r>
            <a:r>
              <a:rPr lang="zh-CN" altLang="en-US" b="1">
                <a:latin typeface="宋体" panose="02010600030101010101" pitchFamily="2" charset="-122"/>
              </a:rPr>
              <a:t>命令</a:t>
            </a:r>
          </a:p>
        </p:txBody>
      </p:sp>
      <p:sp>
        <p:nvSpPr>
          <p:cNvPr id="35842" name="Rectangle 3">
            <a:extLst>
              <a:ext uri="{FF2B5EF4-FFF2-40B4-BE49-F238E27FC236}">
                <a16:creationId xmlns:a16="http://schemas.microsoft.com/office/drawing/2014/main" id="{975AC78F-B4AF-47E5-9212-3BB087E3C4B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zh-CN" altLang="en-US" dirty="0">
                <a:latin typeface="Times New Roman" panose="02020603050405020304" pitchFamily="18" charset="0"/>
              </a:rPr>
              <a:t>实例</a:t>
            </a:r>
          </a:p>
          <a:p>
            <a:r>
              <a:rPr lang="en-US" altLang="zh-CN" dirty="0">
                <a:latin typeface="Times New Roman" panose="02020603050405020304" pitchFamily="18" charset="0"/>
              </a:rPr>
              <a:t>C:\&gt;</a:t>
            </a:r>
            <a:r>
              <a:rPr lang="en-US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tracert </a:t>
            </a:r>
            <a:r>
              <a:rPr lang="fr-FR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www.baidu.com</a:t>
            </a:r>
            <a:endParaRPr lang="en-US" altLang="zh-CN" dirty="0">
              <a:solidFill>
                <a:schemeClr val="accent2"/>
              </a:solidFill>
              <a:latin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</a:rPr>
              <a:t>C:\&gt;</a:t>
            </a:r>
            <a:r>
              <a:rPr lang="fr-FR" altLang="zh-CN" dirty="0">
                <a:solidFill>
                  <a:schemeClr val="accent2"/>
                </a:solidFill>
                <a:latin typeface="Times New Roman" panose="02020603050405020304" pitchFamily="18" charset="0"/>
              </a:rPr>
              <a:t>tracert -d www.baidu.com</a:t>
            </a:r>
            <a:endParaRPr lang="en-US" altLang="zh-CN" dirty="0">
              <a:solidFill>
                <a:schemeClr val="accent2"/>
              </a:solidFill>
              <a:latin typeface="Times New Roman" panose="02020603050405020304" pitchFamily="18" charset="0"/>
            </a:endParaRPr>
          </a:p>
          <a:p>
            <a:pPr>
              <a:buFontTx/>
              <a:buNone/>
            </a:pPr>
            <a:r>
              <a:rPr lang="zh-CN" altLang="en-US" dirty="0">
                <a:latin typeface="Times New Roman" panose="02020603050405020304" pitchFamily="18" charset="0"/>
              </a:rPr>
              <a:t>   参数</a:t>
            </a:r>
            <a:r>
              <a:rPr lang="en-US" altLang="zh-CN" dirty="0">
                <a:latin typeface="Times New Roman" panose="02020603050405020304" pitchFamily="18" charset="0"/>
              </a:rPr>
              <a:t>d</a:t>
            </a:r>
            <a:r>
              <a:rPr lang="zh-CN" altLang="en-US" dirty="0">
                <a:latin typeface="Times New Roman" panose="02020603050405020304" pitchFamily="18" charset="0"/>
              </a:rPr>
              <a:t>指定不将地址解析为计算机名。这样可加速显示</a:t>
            </a:r>
            <a:r>
              <a:rPr lang="en-US" altLang="zh-CN" dirty="0">
                <a:latin typeface="Times New Roman" panose="02020603050405020304" pitchFamily="18" charset="0"/>
              </a:rPr>
              <a:t>tracert</a:t>
            </a:r>
            <a:r>
              <a:rPr lang="zh-CN" altLang="en-US" dirty="0">
                <a:latin typeface="Times New Roman" panose="02020603050405020304" pitchFamily="18" charset="0"/>
              </a:rPr>
              <a:t>的结果 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843" name="灯片编号占位符 1">
            <a:extLst>
              <a:ext uri="{FF2B5EF4-FFF2-40B4-BE49-F238E27FC236}">
                <a16:creationId xmlns:a16="http://schemas.microsoft.com/office/drawing/2014/main" id="{3D1F2FA2-A9D3-462F-91C1-ECCC9F7D9C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C84A6FA0-3B38-4C0E-8E44-D4A5841A3DF4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6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标题 35841">
            <a:extLst>
              <a:ext uri="{FF2B5EF4-FFF2-40B4-BE49-F238E27FC236}">
                <a16:creationId xmlns:a16="http://schemas.microsoft.com/office/drawing/2014/main" id="{77882DF6-758B-4188-BBA2-4C2F916741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宋体" panose="02010600030101010101" pitchFamily="2" charset="-122"/>
              </a:rPr>
              <a:t>ipconfig</a:t>
            </a:r>
            <a:r>
              <a:rPr lang="zh-CN" altLang="en-US" b="1">
                <a:latin typeface="宋体" panose="02010600030101010101" pitchFamily="2" charset="-122"/>
              </a:rPr>
              <a:t>命令</a:t>
            </a:r>
          </a:p>
        </p:txBody>
      </p:sp>
      <p:sp>
        <p:nvSpPr>
          <p:cNvPr id="36866" name="文本占位符 35842">
            <a:extLst>
              <a:ext uri="{FF2B5EF4-FFF2-40B4-BE49-F238E27FC236}">
                <a16:creationId xmlns:a16="http://schemas.microsoft.com/office/drawing/2014/main" id="{188D2DAF-9410-4A01-A5BA-F8D9A77DD7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0" y="1341438"/>
            <a:ext cx="8686800" cy="5516562"/>
          </a:xfrm>
        </p:spPr>
        <p:txBody>
          <a:bodyPr/>
          <a:lstStyle/>
          <a:p>
            <a:r>
              <a:rPr lang="en-US" altLang="zh-CN" sz="2800" dirty="0">
                <a:latin typeface="Times New Roman" panose="02020603050405020304" pitchFamily="18" charset="0"/>
              </a:rPr>
              <a:t>ipconfig</a:t>
            </a:r>
            <a:r>
              <a:rPr lang="zh-CN" altLang="en-US" sz="2800" dirty="0">
                <a:latin typeface="Times New Roman" panose="02020603050405020304" pitchFamily="18" charset="0"/>
              </a:rPr>
              <a:t>命令可以显示所有当前的 </a:t>
            </a:r>
            <a:r>
              <a:rPr lang="en-US" altLang="zh-CN" sz="2800" dirty="0">
                <a:latin typeface="Times New Roman" panose="02020603050405020304" pitchFamily="18" charset="0"/>
              </a:rPr>
              <a:t>TCP/IP </a:t>
            </a:r>
            <a:r>
              <a:rPr lang="zh-CN" altLang="en-US" sz="2800" dirty="0">
                <a:latin typeface="Times New Roman" panose="02020603050405020304" pitchFamily="18" charset="0"/>
              </a:rPr>
              <a:t>网络配置值（如</a:t>
            </a:r>
            <a:r>
              <a:rPr lang="en-US" altLang="zh-CN" sz="2800" dirty="0">
                <a:latin typeface="Times New Roman" panose="02020603050405020304" pitchFamily="18" charset="0"/>
              </a:rPr>
              <a:t>IP</a:t>
            </a:r>
            <a:r>
              <a:rPr lang="zh-CN" altLang="en-US" sz="2800" dirty="0">
                <a:latin typeface="Times New Roman" panose="02020603050405020304" pitchFamily="18" charset="0"/>
              </a:rPr>
              <a:t>地址、网关、子网掩码）、刷新动态主机配置协议 </a:t>
            </a:r>
            <a:r>
              <a:rPr lang="en-US" altLang="zh-CN" sz="2800" dirty="0">
                <a:latin typeface="Times New Roman" panose="02020603050405020304" pitchFamily="18" charset="0"/>
              </a:rPr>
              <a:t>(DHCP) </a:t>
            </a:r>
            <a:r>
              <a:rPr lang="zh-CN" altLang="en-US" sz="2800" dirty="0">
                <a:latin typeface="Times New Roman" panose="02020603050405020304" pitchFamily="18" charset="0"/>
              </a:rPr>
              <a:t>和域名系统 </a:t>
            </a:r>
            <a:r>
              <a:rPr lang="en-US" altLang="zh-CN" sz="2800" dirty="0">
                <a:latin typeface="Times New Roman" panose="02020603050405020304" pitchFamily="18" charset="0"/>
              </a:rPr>
              <a:t>(DNS) </a:t>
            </a:r>
            <a:r>
              <a:rPr lang="zh-CN" altLang="en-US" sz="2800" dirty="0">
                <a:latin typeface="Times New Roman" panose="02020603050405020304" pitchFamily="18" charset="0"/>
              </a:rPr>
              <a:t>设置。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在</a:t>
            </a:r>
            <a:r>
              <a:rPr lang="en-US" altLang="zh-CN" sz="2800" dirty="0">
                <a:latin typeface="Times New Roman" panose="02020603050405020304" pitchFamily="18" charset="0"/>
              </a:rPr>
              <a:t>Windows</a:t>
            </a:r>
            <a:r>
              <a:rPr lang="zh-CN" altLang="en-US" sz="2800" dirty="0">
                <a:latin typeface="Times New Roman" panose="02020603050405020304" pitchFamily="18" charset="0"/>
              </a:rPr>
              <a:t>环境下，语法格式为：</a:t>
            </a:r>
          </a:p>
          <a:p>
            <a:pPr>
              <a:buFontTx/>
              <a:buNone/>
            </a:pP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  ipconfig [/? | /all | /renew [adapter] | /release [adapter] | /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flushdns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| /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displaydns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| /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registerdns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| /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showclassid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adapter | /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setclassid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adapter [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classid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 ]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最常用形式：</a:t>
            </a:r>
            <a:r>
              <a:rPr lang="en-US" altLang="zh-CN" dirty="0">
                <a:latin typeface="Times New Roman" panose="02020603050405020304" pitchFamily="18" charset="0"/>
              </a:rPr>
              <a:t>“</a:t>
            </a:r>
            <a:r>
              <a:rPr lang="en-US" altLang="zh-CN" sz="2800" dirty="0">
                <a:latin typeface="Times New Roman" panose="02020603050405020304" pitchFamily="18" charset="0"/>
              </a:rPr>
              <a:t>ipconfig</a:t>
            </a:r>
            <a:r>
              <a:rPr lang="zh-CN" altLang="en-US" dirty="0">
                <a:latin typeface="Times New Roman" panose="02020603050405020304" pitchFamily="18" charset="0"/>
              </a:rPr>
              <a:t>”或“</a:t>
            </a:r>
            <a:r>
              <a:rPr lang="en-US" altLang="zh-CN" sz="2800" dirty="0">
                <a:latin typeface="Times New Roman" panose="02020603050405020304" pitchFamily="18" charset="0"/>
              </a:rPr>
              <a:t>ipconfig/all</a:t>
            </a:r>
            <a:r>
              <a:rPr lang="zh-CN" altLang="en-US" dirty="0">
                <a:latin typeface="Times New Roman" panose="02020603050405020304" pitchFamily="18" charset="0"/>
              </a:rPr>
              <a:t>”</a:t>
            </a:r>
            <a:endParaRPr lang="en-US" altLang="zh-CN" sz="2800" dirty="0">
              <a:latin typeface="Times New Roman" panose="02020603050405020304" pitchFamily="18" charset="0"/>
            </a:endParaRPr>
          </a:p>
          <a:p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867" name="灯片编号占位符 1">
            <a:extLst>
              <a:ext uri="{FF2B5EF4-FFF2-40B4-BE49-F238E27FC236}">
                <a16:creationId xmlns:a16="http://schemas.microsoft.com/office/drawing/2014/main" id="{146EB20D-0447-4658-A9FD-B4B15F0E697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F90DFAA0-E271-4170-B59E-885FE8E5A46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7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标题 36865">
            <a:extLst>
              <a:ext uri="{FF2B5EF4-FFF2-40B4-BE49-F238E27FC236}">
                <a16:creationId xmlns:a16="http://schemas.microsoft.com/office/drawing/2014/main" id="{1B4C3FFF-A60B-4CF6-8979-9572E55B2F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ipconfig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890" name="文本占位符 36866">
            <a:extLst>
              <a:ext uri="{FF2B5EF4-FFF2-40B4-BE49-F238E27FC236}">
                <a16:creationId xmlns:a16="http://schemas.microsoft.com/office/drawing/2014/main" id="{6A1ACF75-75B5-4EA8-B43D-933C1FDE37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实例</a:t>
            </a:r>
          </a:p>
          <a:p>
            <a:r>
              <a:rPr lang="en-US" altLang="zh-CN" b="1">
                <a:latin typeface="Times New Roman" panose="02020603050405020304" pitchFamily="18" charset="0"/>
              </a:rPr>
              <a:t>ipconfig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  显示所有适配器的基本</a:t>
            </a:r>
            <a:r>
              <a:rPr lang="en-US" altLang="zh-CN">
                <a:latin typeface="Times New Roman" panose="02020603050405020304" pitchFamily="18" charset="0"/>
              </a:rPr>
              <a:t>TCP/IP</a:t>
            </a:r>
            <a:r>
              <a:rPr lang="zh-CN" altLang="en-US">
                <a:latin typeface="Times New Roman" panose="02020603050405020304" pitchFamily="18" charset="0"/>
              </a:rPr>
              <a:t>配置</a:t>
            </a:r>
            <a:endParaRPr lang="en-US" altLang="zh-CN">
              <a:latin typeface="Times New Roman" panose="02020603050405020304" pitchFamily="18" charset="0"/>
            </a:endParaRPr>
          </a:p>
          <a:p>
            <a:r>
              <a:rPr lang="en-US" altLang="zh-CN" b="1">
                <a:latin typeface="Times New Roman" panose="02020603050405020304" pitchFamily="18" charset="0"/>
              </a:rPr>
              <a:t>ipconfig /all</a:t>
            </a:r>
            <a:r>
              <a:rPr lang="zh-CN" altLang="en-US">
                <a:latin typeface="Times New Roman" panose="02020603050405020304" pitchFamily="18" charset="0"/>
              </a:rPr>
              <a:t> </a:t>
            </a:r>
          </a:p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  显示所有适配器的完整 </a:t>
            </a:r>
            <a:r>
              <a:rPr lang="en-US" altLang="zh-CN">
                <a:latin typeface="Times New Roman" panose="02020603050405020304" pitchFamily="18" charset="0"/>
              </a:rPr>
              <a:t>TCP/IP </a:t>
            </a:r>
            <a:r>
              <a:rPr lang="zh-CN" altLang="en-US">
                <a:latin typeface="Times New Roman" panose="02020603050405020304" pitchFamily="18" charset="0"/>
              </a:rPr>
              <a:t>配置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891" name="灯片编号占位符 1">
            <a:extLst>
              <a:ext uri="{FF2B5EF4-FFF2-40B4-BE49-F238E27FC236}">
                <a16:creationId xmlns:a16="http://schemas.microsoft.com/office/drawing/2014/main" id="{044FA321-EA0C-4A3E-884A-953F5DA189B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4BDB1D5D-8544-477A-994D-539C702784C9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8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标题 37889">
            <a:extLst>
              <a:ext uri="{FF2B5EF4-FFF2-40B4-BE49-F238E27FC236}">
                <a16:creationId xmlns:a16="http://schemas.microsoft.com/office/drawing/2014/main" id="{8FAC640D-6FFC-4FFE-9963-7311CBC5E5A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netstat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914" name="文本占位符 37890">
            <a:extLst>
              <a:ext uri="{FF2B5EF4-FFF2-40B4-BE49-F238E27FC236}">
                <a16:creationId xmlns:a16="http://schemas.microsoft.com/office/drawing/2014/main" id="{8B5B4519-ED20-47E9-A621-E9ED039DFD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800">
                <a:latin typeface="Times New Roman" panose="02020603050405020304" pitchFamily="18" charset="0"/>
              </a:rPr>
              <a:t>netstat</a:t>
            </a:r>
            <a:r>
              <a:rPr lang="zh-CN" altLang="en-US" sz="2800">
                <a:latin typeface="Times New Roman" panose="02020603050405020304" pitchFamily="18" charset="0"/>
              </a:rPr>
              <a:t>命令可以显示当前活动的</a:t>
            </a:r>
            <a:r>
              <a:rPr lang="en-US" altLang="zh-CN" sz="2800">
                <a:latin typeface="Times New Roman" panose="02020603050405020304" pitchFamily="18" charset="0"/>
              </a:rPr>
              <a:t>TCP</a:t>
            </a:r>
            <a:r>
              <a:rPr lang="zh-CN" altLang="en-US" sz="2800">
                <a:latin typeface="Times New Roman" panose="02020603050405020304" pitchFamily="18" charset="0"/>
              </a:rPr>
              <a:t>连接、计算机侦听的端口、以太网统计信息、</a:t>
            </a:r>
            <a:r>
              <a:rPr lang="en-US" altLang="zh-CN" sz="2800">
                <a:latin typeface="Times New Roman" panose="02020603050405020304" pitchFamily="18" charset="0"/>
              </a:rPr>
              <a:t>IP</a:t>
            </a:r>
            <a:r>
              <a:rPr lang="zh-CN" altLang="en-US" sz="2800">
                <a:latin typeface="Times New Roman" panose="02020603050405020304" pitchFamily="18" charset="0"/>
              </a:rPr>
              <a:t>路由表、</a:t>
            </a:r>
            <a:r>
              <a:rPr lang="en-US" altLang="zh-CN" sz="2800">
                <a:latin typeface="Times New Roman" panose="02020603050405020304" pitchFamily="18" charset="0"/>
              </a:rPr>
              <a:t>IPv4</a:t>
            </a:r>
            <a:r>
              <a:rPr lang="zh-CN" altLang="en-US" sz="2800">
                <a:latin typeface="Times New Roman" panose="02020603050405020304" pitchFamily="18" charset="0"/>
              </a:rPr>
              <a:t>统计信息（对于</a:t>
            </a:r>
            <a:r>
              <a:rPr lang="en-US" altLang="zh-CN" sz="2800">
                <a:latin typeface="Times New Roman" panose="02020603050405020304" pitchFamily="18" charset="0"/>
              </a:rPr>
              <a:t>IP</a:t>
            </a:r>
            <a:r>
              <a:rPr lang="zh-CN" altLang="en-US" sz="2800">
                <a:latin typeface="Times New Roman" panose="02020603050405020304" pitchFamily="18" charset="0"/>
              </a:rPr>
              <a:t>、</a:t>
            </a:r>
            <a:r>
              <a:rPr lang="en-US" altLang="zh-CN" sz="2800">
                <a:latin typeface="Times New Roman" panose="02020603050405020304" pitchFamily="18" charset="0"/>
              </a:rPr>
              <a:t>ICMP</a:t>
            </a:r>
            <a:r>
              <a:rPr lang="zh-CN" altLang="en-US" sz="2800">
                <a:latin typeface="Times New Roman" panose="02020603050405020304" pitchFamily="18" charset="0"/>
              </a:rPr>
              <a:t>、</a:t>
            </a:r>
            <a:r>
              <a:rPr lang="en-US" altLang="zh-CN" sz="2800">
                <a:latin typeface="Times New Roman" panose="02020603050405020304" pitchFamily="18" charset="0"/>
              </a:rPr>
              <a:t>TCP</a:t>
            </a:r>
            <a:r>
              <a:rPr lang="zh-CN" altLang="en-US" sz="2800">
                <a:latin typeface="Times New Roman" panose="02020603050405020304" pitchFamily="18" charset="0"/>
              </a:rPr>
              <a:t>和</a:t>
            </a:r>
            <a:r>
              <a:rPr lang="en-US" altLang="zh-CN" sz="2800">
                <a:latin typeface="Times New Roman" panose="02020603050405020304" pitchFamily="18" charset="0"/>
              </a:rPr>
              <a:t>UDP</a:t>
            </a:r>
            <a:r>
              <a:rPr lang="zh-CN" altLang="en-US" sz="2800">
                <a:latin typeface="Times New Roman" panose="02020603050405020304" pitchFamily="18" charset="0"/>
              </a:rPr>
              <a:t>协议）以及</a:t>
            </a:r>
            <a:r>
              <a:rPr lang="en-US" altLang="zh-CN" sz="2800">
                <a:latin typeface="Times New Roman" panose="02020603050405020304" pitchFamily="18" charset="0"/>
              </a:rPr>
              <a:t>IPv6</a:t>
            </a:r>
            <a:r>
              <a:rPr lang="zh-CN" altLang="en-US" sz="2800">
                <a:latin typeface="Times New Roman" panose="02020603050405020304" pitchFamily="18" charset="0"/>
              </a:rPr>
              <a:t>统计信息 </a:t>
            </a:r>
          </a:p>
          <a:p>
            <a:r>
              <a:rPr lang="zh-CN" altLang="en-US" sz="2800">
                <a:latin typeface="Times New Roman" panose="02020603050405020304" pitchFamily="18" charset="0"/>
              </a:rPr>
              <a:t>在</a:t>
            </a:r>
            <a:r>
              <a:rPr lang="en-US" altLang="zh-CN" sz="2800">
                <a:latin typeface="Times New Roman" panose="02020603050405020304" pitchFamily="18" charset="0"/>
              </a:rPr>
              <a:t>Windows</a:t>
            </a:r>
            <a:r>
              <a:rPr lang="zh-CN" altLang="en-US" sz="2800">
                <a:latin typeface="Times New Roman" panose="02020603050405020304" pitchFamily="18" charset="0"/>
              </a:rPr>
              <a:t>环境下，</a:t>
            </a:r>
            <a:r>
              <a:rPr lang="en-US" altLang="zh-CN" sz="2800">
                <a:latin typeface="Times New Roman" panose="02020603050405020304" pitchFamily="18" charset="0"/>
              </a:rPr>
              <a:t>netstat</a:t>
            </a:r>
            <a:r>
              <a:rPr lang="zh-CN" altLang="en-US" sz="2800">
                <a:latin typeface="Times New Roman" panose="02020603050405020304" pitchFamily="18" charset="0"/>
              </a:rPr>
              <a:t>的语法格式为：</a:t>
            </a:r>
            <a:endParaRPr lang="zh-CN" altLang="en-US" sz="2800" b="1">
              <a:latin typeface="Times New Roman" panose="02020603050405020304" pitchFamily="18" charset="0"/>
            </a:endParaRPr>
          </a:p>
          <a:p>
            <a:pPr>
              <a:buFontTx/>
              <a:buNone/>
            </a:pPr>
            <a:r>
              <a:rPr lang="it-IT" altLang="en-US" sz="2800">
                <a:solidFill>
                  <a:schemeClr val="accent2"/>
                </a:solidFill>
                <a:latin typeface="Times New Roman" panose="02020603050405020304" pitchFamily="18" charset="0"/>
              </a:rPr>
              <a:t>   netstat [-a] [-b] [-e] [-n] [-o] [-p proto] [-r] </a:t>
            </a:r>
          </a:p>
          <a:p>
            <a:pPr>
              <a:buFontTx/>
              <a:buNone/>
            </a:pPr>
            <a:r>
              <a:rPr lang="en-US" altLang="zh-CN" sz="2800">
                <a:solidFill>
                  <a:schemeClr val="accent2"/>
                </a:solidFill>
                <a:latin typeface="Times New Roman" panose="02020603050405020304" pitchFamily="18" charset="0"/>
              </a:rPr>
              <a:t>               </a:t>
            </a:r>
            <a:r>
              <a:rPr lang="it-IT" altLang="en-US" sz="2800">
                <a:solidFill>
                  <a:schemeClr val="accent2"/>
                </a:solidFill>
                <a:latin typeface="Times New Roman" panose="02020603050405020304" pitchFamily="18" charset="0"/>
              </a:rPr>
              <a:t>[-s] [-v] [interval]</a:t>
            </a:r>
          </a:p>
          <a:p>
            <a:r>
              <a:rPr lang="zh-CN" altLang="en-US" sz="2800">
                <a:latin typeface="Times New Roman" panose="02020603050405020304" pitchFamily="18" charset="0"/>
              </a:rPr>
              <a:t>最常用参数：</a:t>
            </a:r>
            <a:r>
              <a:rPr lang="en-US" altLang="zh-CN">
                <a:latin typeface="Times New Roman" panose="02020603050405020304" pitchFamily="18" charset="0"/>
              </a:rPr>
              <a:t>-an</a:t>
            </a:r>
            <a:r>
              <a:rPr lang="zh-CN" altLang="en-US">
                <a:latin typeface="Times New Roman" panose="02020603050405020304" pitchFamily="18" charset="0"/>
              </a:rPr>
              <a:t>、</a:t>
            </a:r>
            <a:r>
              <a:rPr lang="en-US" altLang="zh-CN">
                <a:latin typeface="Times New Roman" panose="02020603050405020304" pitchFamily="18" charset="0"/>
              </a:rPr>
              <a:t>-e -s</a:t>
            </a:r>
            <a:endParaRPr lang="zh-CN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915" name="灯片编号占位符 1">
            <a:extLst>
              <a:ext uri="{FF2B5EF4-FFF2-40B4-BE49-F238E27FC236}">
                <a16:creationId xmlns:a16="http://schemas.microsoft.com/office/drawing/2014/main" id="{18B36A15-99CC-487C-9311-9EA63D35C5F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22B1F185-25B3-419E-8CD5-DB6A358F023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9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标题 38913">
            <a:extLst>
              <a:ext uri="{FF2B5EF4-FFF2-40B4-BE49-F238E27FC236}">
                <a16:creationId xmlns:a16="http://schemas.microsoft.com/office/drawing/2014/main" id="{E803F746-6420-4E2C-822C-9B36206CFE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netstat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938" name="文本占位符 38914">
            <a:extLst>
              <a:ext uri="{FF2B5EF4-FFF2-40B4-BE49-F238E27FC236}">
                <a16:creationId xmlns:a16="http://schemas.microsoft.com/office/drawing/2014/main" id="{5FA64FFB-8BCE-41B1-9AAD-FE328951F19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实例</a:t>
            </a:r>
          </a:p>
          <a:p>
            <a:r>
              <a:rPr lang="en-US" altLang="zh-CN">
                <a:latin typeface="Times New Roman" panose="02020603050405020304" pitchFamily="18" charset="0"/>
              </a:rPr>
              <a:t>netstat –an</a:t>
            </a:r>
          </a:p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   显示所有活动的 </a:t>
            </a:r>
            <a:r>
              <a:rPr lang="en-US" altLang="zh-CN">
                <a:latin typeface="Times New Roman" panose="02020603050405020304" pitchFamily="18" charset="0"/>
              </a:rPr>
              <a:t>TCP </a:t>
            </a:r>
            <a:r>
              <a:rPr lang="zh-CN" altLang="en-US">
                <a:latin typeface="Times New Roman" panose="02020603050405020304" pitchFamily="18" charset="0"/>
              </a:rPr>
              <a:t>连接以及计算机侦听的</a:t>
            </a:r>
            <a:r>
              <a:rPr lang="en-US" altLang="zh-CN">
                <a:latin typeface="Times New Roman" panose="02020603050405020304" pitchFamily="18" charset="0"/>
              </a:rPr>
              <a:t>TCP </a:t>
            </a:r>
            <a:r>
              <a:rPr lang="zh-CN" altLang="en-US">
                <a:latin typeface="Times New Roman" panose="02020603050405020304" pitchFamily="18" charset="0"/>
              </a:rPr>
              <a:t>和 </a:t>
            </a:r>
            <a:r>
              <a:rPr lang="en-US" altLang="zh-CN">
                <a:latin typeface="Times New Roman" panose="02020603050405020304" pitchFamily="18" charset="0"/>
              </a:rPr>
              <a:t>UDP </a:t>
            </a:r>
            <a:r>
              <a:rPr lang="zh-CN" altLang="en-US">
                <a:latin typeface="Times New Roman" panose="02020603050405020304" pitchFamily="18" charset="0"/>
              </a:rPr>
              <a:t>端口</a:t>
            </a:r>
          </a:p>
          <a:p>
            <a:r>
              <a:rPr lang="en-US" altLang="zh-CN">
                <a:latin typeface="Times New Roman" panose="02020603050405020304" pitchFamily="18" charset="0"/>
              </a:rPr>
              <a:t>netstat -e –s</a:t>
            </a:r>
          </a:p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   显示以太网统计信息，如发送和接收的字节数、数据包数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939" name="灯片编号占位符 1">
            <a:extLst>
              <a:ext uri="{FF2B5EF4-FFF2-40B4-BE49-F238E27FC236}">
                <a16:creationId xmlns:a16="http://schemas.microsoft.com/office/drawing/2014/main" id="{9706A285-C850-4C31-A510-D634D816C0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3214A9BA-D033-4955-AEBC-91A9E81916B8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10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标题 39937">
            <a:extLst>
              <a:ext uri="{FF2B5EF4-FFF2-40B4-BE49-F238E27FC236}">
                <a16:creationId xmlns:a16="http://schemas.microsoft.com/office/drawing/2014/main" id="{BAEE55A0-C319-4CF8-B5B9-BA63D2056F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arp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62" name="文本占位符 39938">
            <a:extLst>
              <a:ext uri="{FF2B5EF4-FFF2-40B4-BE49-F238E27FC236}">
                <a16:creationId xmlns:a16="http://schemas.microsoft.com/office/drawing/2014/main" id="{21D9AF34-127C-448A-B5A9-B0C902412B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0" y="1600200"/>
            <a:ext cx="8820150" cy="4997450"/>
          </a:xfrm>
        </p:spPr>
        <p:txBody>
          <a:bodyPr/>
          <a:lstStyle/>
          <a:p>
            <a:r>
              <a:rPr lang="en-US" altLang="zh-CN" sz="2800" dirty="0">
                <a:latin typeface="Times New Roman" panose="02020603050405020304" pitchFamily="18" charset="0"/>
              </a:rPr>
              <a:t>ARP </a:t>
            </a:r>
            <a:r>
              <a:rPr lang="zh-CN" altLang="en-US" sz="2800" dirty="0">
                <a:latin typeface="Times New Roman" panose="02020603050405020304" pitchFamily="18" charset="0"/>
              </a:rPr>
              <a:t>把基于 </a:t>
            </a:r>
            <a:r>
              <a:rPr lang="en-US" altLang="zh-CN" sz="2800" dirty="0">
                <a:latin typeface="Times New Roman" panose="02020603050405020304" pitchFamily="18" charset="0"/>
              </a:rPr>
              <a:t>TCP/IP </a:t>
            </a:r>
            <a:r>
              <a:rPr lang="zh-CN" altLang="en-US" sz="2800" dirty="0">
                <a:latin typeface="Times New Roman" panose="02020603050405020304" pitchFamily="18" charset="0"/>
              </a:rPr>
              <a:t>的软件使用的 </a:t>
            </a:r>
            <a:r>
              <a:rPr lang="en-US" altLang="zh-CN" sz="2800" dirty="0">
                <a:latin typeface="Times New Roman" panose="02020603050405020304" pitchFamily="18" charset="0"/>
              </a:rPr>
              <a:t>IP </a:t>
            </a:r>
            <a:r>
              <a:rPr lang="zh-CN" altLang="en-US" sz="2800" dirty="0">
                <a:latin typeface="Times New Roman" panose="02020603050405020304" pitchFamily="18" charset="0"/>
              </a:rPr>
              <a:t>地址解析成 </a:t>
            </a:r>
            <a:r>
              <a:rPr lang="en-US" altLang="zh-CN" sz="2800" dirty="0">
                <a:latin typeface="Times New Roman" panose="02020603050405020304" pitchFamily="18" charset="0"/>
              </a:rPr>
              <a:t>LAN </a:t>
            </a:r>
            <a:r>
              <a:rPr lang="zh-CN" altLang="en-US" sz="2800" dirty="0">
                <a:latin typeface="Times New Roman" panose="02020603050405020304" pitchFamily="18" charset="0"/>
              </a:rPr>
              <a:t>硬件使用的媒体访问控制</a:t>
            </a:r>
            <a:r>
              <a:rPr lang="en-US" altLang="zh-CN" sz="2800" dirty="0">
                <a:latin typeface="Times New Roman" panose="02020603050405020304" pitchFamily="18" charset="0"/>
              </a:rPr>
              <a:t>(MAC)</a:t>
            </a:r>
            <a:r>
              <a:rPr lang="zh-CN" altLang="en-US" sz="2800" dirty="0">
                <a:latin typeface="Times New Roman" panose="02020603050405020304" pitchFamily="18" charset="0"/>
              </a:rPr>
              <a:t>地址。 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其语法格式为：</a:t>
            </a:r>
          </a:p>
          <a:p>
            <a:pPr>
              <a:buFontTx/>
              <a:buNone/>
            </a:pPr>
            <a:r>
              <a:rPr lang="en-US" altLang="zh-CN" sz="2800" dirty="0">
                <a:latin typeface="Times New Roman" panose="02020603050405020304" pitchFamily="18" charset="0"/>
              </a:rPr>
              <a:t>  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arp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[-a [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InetAddr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 [-N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IfaceAddr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]] [-g [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InetAddr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 [-N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IfaceAddr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]] [-d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InetAddr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[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IfaceAddr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]] [-s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InetAddr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EtherAddr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 [</a:t>
            </a:r>
            <a:r>
              <a:rPr lang="en-US" altLang="zh-CN" sz="2800" dirty="0" err="1">
                <a:solidFill>
                  <a:schemeClr val="accent2"/>
                </a:solidFill>
                <a:latin typeface="Times New Roman" panose="02020603050405020304" pitchFamily="18" charset="0"/>
              </a:rPr>
              <a:t>IfaceAddr</a:t>
            </a:r>
            <a:r>
              <a:rPr lang="en-US" altLang="zh-CN" sz="2800" dirty="0">
                <a:solidFill>
                  <a:schemeClr val="accent2"/>
                </a:solidFill>
                <a:latin typeface="Times New Roman" panose="02020603050405020304" pitchFamily="18" charset="0"/>
              </a:rPr>
              <a:t>]]</a:t>
            </a:r>
          </a:p>
          <a:p>
            <a:r>
              <a:rPr lang="zh-CN" altLang="en-US" sz="2800" dirty="0">
                <a:latin typeface="Times New Roman" panose="02020603050405020304" pitchFamily="18" charset="0"/>
              </a:rPr>
              <a:t>最常用参数：</a:t>
            </a:r>
            <a:r>
              <a:rPr lang="en-US" altLang="zh-CN" dirty="0">
                <a:latin typeface="Times New Roman" panose="02020603050405020304" pitchFamily="18" charset="0"/>
              </a:rPr>
              <a:t>-a</a:t>
            </a:r>
            <a:r>
              <a:rPr lang="zh-CN" altLang="en-US" dirty="0">
                <a:latin typeface="Times New Roman" panose="02020603050405020304" pitchFamily="18" charset="0"/>
              </a:rPr>
              <a:t>、-d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963" name="灯片编号占位符 1">
            <a:extLst>
              <a:ext uri="{FF2B5EF4-FFF2-40B4-BE49-F238E27FC236}">
                <a16:creationId xmlns:a16="http://schemas.microsoft.com/office/drawing/2014/main" id="{E0207C2D-0FAA-477F-86FE-10C742CF45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C65DBD83-4931-44AE-8276-F3AE97EBE40E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11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标题 40961">
            <a:extLst>
              <a:ext uri="{FF2B5EF4-FFF2-40B4-BE49-F238E27FC236}">
                <a16:creationId xmlns:a16="http://schemas.microsoft.com/office/drawing/2014/main" id="{89E687A2-C690-4348-BE85-75D54C2A98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arp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986" name="文本占位符 40962">
            <a:extLst>
              <a:ext uri="{FF2B5EF4-FFF2-40B4-BE49-F238E27FC236}">
                <a16:creationId xmlns:a16="http://schemas.microsoft.com/office/drawing/2014/main" id="{93DC774C-379D-4091-8DD0-3ED9AD957FC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</a:rPr>
              <a:t>实例</a:t>
            </a:r>
          </a:p>
          <a:p>
            <a:pPr>
              <a:lnSpc>
                <a:spcPct val="90000"/>
              </a:lnSpc>
            </a:pPr>
            <a:r>
              <a:rPr lang="en-US" altLang="zh-CN" sz="2400">
                <a:solidFill>
                  <a:schemeClr val="accent2"/>
                </a:solidFill>
                <a:latin typeface="Times New Roman" panose="02020603050405020304" pitchFamily="18" charset="0"/>
              </a:rPr>
              <a:t>arp –a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</a:rPr>
              <a:t>    显示所有接口的</a:t>
            </a:r>
            <a:r>
              <a:rPr lang="en-US" altLang="zh-CN" sz="2400">
                <a:latin typeface="Times New Roman" panose="02020603050405020304" pitchFamily="18" charset="0"/>
              </a:rPr>
              <a:t>ARP </a:t>
            </a:r>
            <a:r>
              <a:rPr lang="zh-CN" altLang="en-US" sz="2400">
                <a:latin typeface="Times New Roman" panose="02020603050405020304" pitchFamily="18" charset="0"/>
              </a:rPr>
              <a:t>缓存表。</a:t>
            </a:r>
          </a:p>
          <a:p>
            <a:pPr>
              <a:lnSpc>
                <a:spcPct val="90000"/>
              </a:lnSpc>
            </a:pPr>
            <a:r>
              <a:rPr lang="en-US" altLang="zh-CN" sz="2400">
                <a:solidFill>
                  <a:schemeClr val="accent2"/>
                </a:solidFill>
                <a:latin typeface="Times New Roman" panose="02020603050405020304" pitchFamily="18" charset="0"/>
              </a:rPr>
              <a:t>arp -a -N 192.168.1.100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</a:rPr>
              <a:t>    显示</a:t>
            </a:r>
            <a:r>
              <a:rPr lang="en-US" altLang="zh-CN" sz="2400">
                <a:latin typeface="Times New Roman" panose="02020603050405020304" pitchFamily="18" charset="0"/>
              </a:rPr>
              <a:t>IP </a:t>
            </a:r>
            <a:r>
              <a:rPr lang="zh-CN" altLang="en-US" sz="2400">
                <a:latin typeface="Times New Roman" panose="02020603050405020304" pitchFamily="18" charset="0"/>
              </a:rPr>
              <a:t>地址为 </a:t>
            </a:r>
            <a:r>
              <a:rPr lang="en-US" altLang="zh-CN" sz="2400">
                <a:latin typeface="Times New Roman" panose="02020603050405020304" pitchFamily="18" charset="0"/>
              </a:rPr>
              <a:t>192.168.1.100 </a:t>
            </a:r>
            <a:r>
              <a:rPr lang="zh-CN" altLang="en-US" sz="2400">
                <a:latin typeface="Times New Roman" panose="02020603050405020304" pitchFamily="18" charset="0"/>
              </a:rPr>
              <a:t>的接口</a:t>
            </a:r>
            <a:r>
              <a:rPr lang="en-US" altLang="zh-CN" sz="2400">
                <a:latin typeface="Times New Roman" panose="02020603050405020304" pitchFamily="18" charset="0"/>
              </a:rPr>
              <a:t>ARP </a:t>
            </a:r>
            <a:r>
              <a:rPr lang="zh-CN" altLang="en-US" sz="2400">
                <a:latin typeface="Times New Roman" panose="02020603050405020304" pitchFamily="18" charset="0"/>
              </a:rPr>
              <a:t>缓存表。</a:t>
            </a:r>
          </a:p>
          <a:p>
            <a:pPr>
              <a:lnSpc>
                <a:spcPct val="90000"/>
              </a:lnSpc>
            </a:pPr>
            <a:r>
              <a:rPr lang="en-US" altLang="zh-CN" sz="2400">
                <a:solidFill>
                  <a:schemeClr val="accent2"/>
                </a:solidFill>
                <a:latin typeface="Times New Roman" panose="02020603050405020304" pitchFamily="18" charset="0"/>
              </a:rPr>
              <a:t>arp -s 10.0.0.80 00-AA-00-4F-2A-9C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zh-CN" altLang="en-US" sz="2400">
                <a:latin typeface="Times New Roman" panose="02020603050405020304" pitchFamily="18" charset="0"/>
              </a:rPr>
              <a:t>   将 </a:t>
            </a:r>
            <a:r>
              <a:rPr lang="en-US" altLang="zh-CN" sz="2400">
                <a:latin typeface="Times New Roman" panose="02020603050405020304" pitchFamily="18" charset="0"/>
              </a:rPr>
              <a:t>IP </a:t>
            </a:r>
            <a:r>
              <a:rPr lang="zh-CN" altLang="en-US" sz="2400">
                <a:latin typeface="Times New Roman" panose="02020603050405020304" pitchFamily="18" charset="0"/>
              </a:rPr>
              <a:t>地址 </a:t>
            </a:r>
            <a:r>
              <a:rPr lang="en-US" altLang="zh-CN" sz="2400">
                <a:latin typeface="Times New Roman" panose="02020603050405020304" pitchFamily="18" charset="0"/>
              </a:rPr>
              <a:t>10.0.0.80</a:t>
            </a:r>
            <a:r>
              <a:rPr lang="zh-CN" altLang="en-US" sz="2400">
                <a:latin typeface="Times New Roman" panose="02020603050405020304" pitchFamily="18" charset="0"/>
              </a:rPr>
              <a:t>与物理地址 </a:t>
            </a:r>
            <a:r>
              <a:rPr lang="en-US" altLang="zh-CN" sz="2400">
                <a:latin typeface="Times New Roman" panose="02020603050405020304" pitchFamily="18" charset="0"/>
              </a:rPr>
              <a:t>00-AA-00-4F-2A-9C</a:t>
            </a:r>
            <a:r>
              <a:rPr lang="zh-CN" altLang="en-US" sz="2400">
                <a:latin typeface="Times New Roman" panose="02020603050405020304" pitchFamily="18" charset="0"/>
              </a:rPr>
              <a:t>绑定</a:t>
            </a:r>
            <a:r>
              <a:rPr lang="en-US" altLang="zh-CN" sz="2400">
                <a:latin typeface="Times New Roman" panose="02020603050405020304" pitchFamily="18" charset="0"/>
              </a:rPr>
              <a:t>(</a:t>
            </a:r>
            <a:r>
              <a:rPr lang="zh-CN" altLang="en-US" sz="2400">
                <a:latin typeface="Times New Roman" panose="02020603050405020304" pitchFamily="18" charset="0"/>
              </a:rPr>
              <a:t>静态</a:t>
            </a:r>
            <a:r>
              <a:rPr lang="en-US" altLang="zh-CN" sz="2400">
                <a:latin typeface="Times New Roman" panose="02020603050405020304" pitchFamily="18" charset="0"/>
              </a:rPr>
              <a:t>ARP</a:t>
            </a:r>
            <a:r>
              <a:rPr lang="zh-CN" altLang="en-US" sz="2400">
                <a:latin typeface="Times New Roman" panose="02020603050405020304" pitchFamily="18" charset="0"/>
              </a:rPr>
              <a:t>缓存项</a:t>
            </a:r>
            <a:r>
              <a:rPr lang="en-US" altLang="zh-CN" sz="2400">
                <a:latin typeface="Times New Roman" panose="02020603050405020304" pitchFamily="18" charset="0"/>
              </a:rPr>
              <a:t>)</a:t>
            </a:r>
            <a:r>
              <a:rPr lang="zh-CN" altLang="en-US" sz="2400">
                <a:latin typeface="Times New Roman" panose="02020603050405020304" pitchFamily="18" charset="0"/>
              </a:rPr>
              <a:t>。</a:t>
            </a:r>
          </a:p>
          <a:p>
            <a:pPr>
              <a:lnSpc>
                <a:spcPct val="90000"/>
              </a:lnSpc>
            </a:pPr>
            <a:endParaRPr lang="en-US" altLang="zh-CN" sz="2400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</a:pPr>
            <a:r>
              <a:rPr lang="zh-CN" altLang="en-US" sz="2400">
                <a:latin typeface="Times New Roman" panose="02020603050405020304" pitchFamily="18" charset="0"/>
              </a:rPr>
              <a:t>注意：在</a:t>
            </a:r>
            <a:r>
              <a:rPr lang="en-US" altLang="zh-CN" sz="2400">
                <a:latin typeface="Times New Roman" panose="02020603050405020304" pitchFamily="18" charset="0"/>
              </a:rPr>
              <a:t>IPv6</a:t>
            </a:r>
            <a:r>
              <a:rPr lang="zh-CN" altLang="en-US" sz="2400">
                <a:latin typeface="Times New Roman" panose="02020603050405020304" pitchFamily="18" charset="0"/>
              </a:rPr>
              <a:t>协议下，已经取消了</a:t>
            </a:r>
            <a:r>
              <a:rPr lang="en-US" altLang="zh-CN" sz="2400">
                <a:latin typeface="Times New Roman" panose="02020603050405020304" pitchFamily="18" charset="0"/>
              </a:rPr>
              <a:t>arp</a:t>
            </a:r>
            <a:r>
              <a:rPr lang="zh-CN" altLang="en-US" sz="2400">
                <a:latin typeface="Times New Roman" panose="02020603050405020304" pitchFamily="18" charset="0"/>
              </a:rPr>
              <a:t>协议，代之以</a:t>
            </a:r>
            <a:r>
              <a:rPr lang="en-US" altLang="zh-CN" sz="2400">
                <a:latin typeface="Times New Roman" panose="02020603050405020304" pitchFamily="18" charset="0"/>
              </a:rPr>
              <a:t>NDP</a:t>
            </a:r>
            <a:r>
              <a:rPr lang="zh-CN" altLang="en-US" sz="2400">
                <a:latin typeface="Times New Roman" panose="02020603050405020304" pitchFamily="18" charset="0"/>
              </a:rPr>
              <a:t>（邻居发现）协议。</a:t>
            </a:r>
            <a:endParaRPr lang="zh-CN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987" name="灯片编号占位符 1">
            <a:extLst>
              <a:ext uri="{FF2B5EF4-FFF2-40B4-BE49-F238E27FC236}">
                <a16:creationId xmlns:a16="http://schemas.microsoft.com/office/drawing/2014/main" id="{A27B5583-8051-4FF6-A43E-636346A114E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281D9FCA-BED5-4E43-A49B-A7AC0B703AA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12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标题 41985">
            <a:extLst>
              <a:ext uri="{FF2B5EF4-FFF2-40B4-BE49-F238E27FC236}">
                <a16:creationId xmlns:a16="http://schemas.microsoft.com/office/drawing/2014/main" id="{873E702B-3892-4B31-9415-BA33A00382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en-US" b="1">
                <a:latin typeface="Times New Roman" panose="02020603050405020304" pitchFamily="18" charset="0"/>
              </a:rPr>
              <a:t>Route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010" name="文本占位符 41986">
            <a:extLst>
              <a:ext uri="{FF2B5EF4-FFF2-40B4-BE49-F238E27FC236}">
                <a16:creationId xmlns:a16="http://schemas.microsoft.com/office/drawing/2014/main" id="{85285E60-D1CD-422B-B51B-AD3EBFAA2CB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800">
                <a:latin typeface="Times New Roman" panose="02020603050405020304" pitchFamily="18" charset="0"/>
              </a:rPr>
              <a:t>使用 </a:t>
            </a:r>
            <a:r>
              <a:rPr lang="en-US" altLang="zh-CN" sz="2800">
                <a:latin typeface="Times New Roman" panose="02020603050405020304" pitchFamily="18" charset="0"/>
              </a:rPr>
              <a:t>Route </a:t>
            </a:r>
            <a:r>
              <a:rPr lang="zh-CN" altLang="en-US" sz="2800">
                <a:latin typeface="Times New Roman" panose="02020603050405020304" pitchFamily="18" charset="0"/>
              </a:rPr>
              <a:t>命令行工具查看并编辑计算机的 </a:t>
            </a:r>
            <a:r>
              <a:rPr lang="en-US" altLang="zh-CN" sz="2800">
                <a:latin typeface="Times New Roman" panose="02020603050405020304" pitchFamily="18" charset="0"/>
              </a:rPr>
              <a:t>IP </a:t>
            </a:r>
            <a:r>
              <a:rPr lang="zh-CN" altLang="en-US" sz="2800">
                <a:latin typeface="Times New Roman" panose="02020603050405020304" pitchFamily="18" charset="0"/>
              </a:rPr>
              <a:t>路由表。</a:t>
            </a:r>
            <a:r>
              <a:rPr lang="en-US" altLang="zh-CN" sz="2800">
                <a:latin typeface="Times New Roman" panose="02020603050405020304" pitchFamily="18" charset="0"/>
              </a:rPr>
              <a:t>Route </a:t>
            </a:r>
            <a:r>
              <a:rPr lang="zh-CN" altLang="en-US" sz="2800">
                <a:latin typeface="Times New Roman" panose="02020603050405020304" pitchFamily="18" charset="0"/>
              </a:rPr>
              <a:t>命令和语法如下所示：</a:t>
            </a:r>
          </a:p>
          <a:p>
            <a:r>
              <a:rPr lang="fr-FR" altLang="en-US" sz="2800">
                <a:solidFill>
                  <a:schemeClr val="accent2"/>
                </a:solidFill>
                <a:latin typeface="Times New Roman" panose="02020603050405020304" pitchFamily="18" charset="0"/>
              </a:rPr>
              <a:t>route [-f] [-p] [command [destination]</a:t>
            </a:r>
          </a:p>
          <a:p>
            <a:pPr>
              <a:buFontTx/>
              <a:buNone/>
            </a:pPr>
            <a:r>
              <a:rPr lang="fr-FR" altLang="en-US" sz="2800">
                <a:solidFill>
                  <a:schemeClr val="accent2"/>
                </a:solidFill>
                <a:latin typeface="Times New Roman" panose="02020603050405020304" pitchFamily="18" charset="0"/>
              </a:rPr>
              <a:t>            </a:t>
            </a:r>
            <a:r>
              <a:rPr lang="en-US" altLang="zh-CN" sz="280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fr-FR" altLang="en-US" sz="2800">
                <a:solidFill>
                  <a:schemeClr val="accent2"/>
                </a:solidFill>
                <a:latin typeface="Times New Roman" panose="02020603050405020304" pitchFamily="18" charset="0"/>
              </a:rPr>
              <a:t> </a:t>
            </a:r>
            <a:r>
              <a:rPr lang="en-US" altLang="zh-CN" sz="2800">
                <a:solidFill>
                  <a:schemeClr val="accent2"/>
                </a:solidFill>
                <a:latin typeface="Times New Roman" panose="02020603050405020304" pitchFamily="18" charset="0"/>
              </a:rPr>
              <a:t>[MASK netmask]  [gateway]      </a:t>
            </a:r>
          </a:p>
          <a:p>
            <a:pPr>
              <a:buFontTx/>
              <a:buNone/>
            </a:pPr>
            <a:r>
              <a:rPr lang="en-US" altLang="zh-CN" sz="2800">
                <a:solidFill>
                  <a:schemeClr val="accent2"/>
                </a:solidFill>
                <a:latin typeface="Times New Roman" panose="02020603050405020304" pitchFamily="18" charset="0"/>
              </a:rPr>
              <a:t>             [METRIC metric]  [IF interface]</a:t>
            </a:r>
          </a:p>
          <a:p>
            <a:r>
              <a:rPr lang="zh-CN" altLang="en-US" sz="2800">
                <a:latin typeface="Times New Roman" panose="02020603050405020304" pitchFamily="18" charset="0"/>
              </a:rPr>
              <a:t>最常用参数：</a:t>
            </a:r>
            <a:r>
              <a:rPr lang="en-US" altLang="zh-CN">
                <a:latin typeface="Times New Roman" panose="02020603050405020304" pitchFamily="18" charset="0"/>
              </a:rPr>
              <a:t>print </a:t>
            </a:r>
            <a:endParaRPr lang="zh-CN" altLang="en-US">
              <a:latin typeface="Times New Roman" panose="02020603050405020304" pitchFamily="18" charset="0"/>
            </a:endParaRPr>
          </a:p>
          <a:p>
            <a:endParaRPr lang="en-US" altLang="zh-CN" sz="2800">
              <a:latin typeface="Times New Roman" panose="02020603050405020304" pitchFamily="18" charset="0"/>
            </a:endParaRPr>
          </a:p>
          <a:p>
            <a:endParaRPr lang="zh-CN" alt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011" name="灯片编号占位符 1">
            <a:extLst>
              <a:ext uri="{FF2B5EF4-FFF2-40B4-BE49-F238E27FC236}">
                <a16:creationId xmlns:a16="http://schemas.microsoft.com/office/drawing/2014/main" id="{960ED7FE-A4CE-479C-9E8B-0B3F4FF85F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C038B1CC-FB94-4A56-A148-8E3E6F8B06FC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13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标题 43009">
            <a:extLst>
              <a:ext uri="{FF2B5EF4-FFF2-40B4-BE49-F238E27FC236}">
                <a16:creationId xmlns:a16="http://schemas.microsoft.com/office/drawing/2014/main" id="{7B3E934D-07E6-4D08-96A7-3C1685FD45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en-US" b="1">
                <a:latin typeface="Times New Roman" panose="02020603050405020304" pitchFamily="18" charset="0"/>
              </a:rPr>
              <a:t>Route</a:t>
            </a:r>
            <a:r>
              <a:rPr lang="zh-CN" altLang="en-US" b="1">
                <a:latin typeface="Times New Roman" panose="02020603050405020304" pitchFamily="18" charset="0"/>
              </a:rPr>
              <a:t>命令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034" name="文本占位符 43010">
            <a:extLst>
              <a:ext uri="{FF2B5EF4-FFF2-40B4-BE49-F238E27FC236}">
                <a16:creationId xmlns:a16="http://schemas.microsoft.com/office/drawing/2014/main" id="{995C9979-975C-4D1F-BF1C-7DAA0E79FAA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zh-CN" altLang="en-US">
                <a:latin typeface="Times New Roman" panose="02020603050405020304" pitchFamily="18" charset="0"/>
              </a:rPr>
              <a:t>实例</a:t>
            </a:r>
          </a:p>
          <a:p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</a:rPr>
              <a:t>route print</a:t>
            </a:r>
          </a:p>
          <a:p>
            <a:pPr>
              <a:buFontTx/>
              <a:buNone/>
            </a:pPr>
            <a:r>
              <a:rPr lang="en-US" altLang="zh-CN">
                <a:latin typeface="Times New Roman" panose="02020603050405020304" pitchFamily="18" charset="0"/>
              </a:rPr>
              <a:t>  </a:t>
            </a:r>
            <a:r>
              <a:rPr lang="zh-CN" altLang="en-US">
                <a:latin typeface="Times New Roman" panose="02020603050405020304" pitchFamily="18" charset="0"/>
              </a:rPr>
              <a:t>显示 </a:t>
            </a:r>
            <a:r>
              <a:rPr lang="en-US" altLang="zh-CN">
                <a:latin typeface="Times New Roman" panose="02020603050405020304" pitchFamily="18" charset="0"/>
              </a:rPr>
              <a:t>IP </a:t>
            </a:r>
            <a:r>
              <a:rPr lang="zh-CN" altLang="en-US">
                <a:latin typeface="Times New Roman" panose="02020603050405020304" pitchFamily="18" charset="0"/>
              </a:rPr>
              <a:t>路由表的完整内容。</a:t>
            </a:r>
            <a:endParaRPr lang="en-US" altLang="zh-CN"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</a:rPr>
              <a:t>route print 10.*</a:t>
            </a:r>
          </a:p>
          <a:p>
            <a:pPr>
              <a:buFontTx/>
              <a:buNone/>
            </a:pPr>
            <a:r>
              <a:rPr lang="en-US" altLang="zh-CN">
                <a:latin typeface="Times New Roman" panose="02020603050405020304" pitchFamily="18" charset="0"/>
              </a:rPr>
              <a:t>  </a:t>
            </a:r>
            <a:r>
              <a:rPr lang="zh-CN" altLang="en-US">
                <a:latin typeface="Times New Roman" panose="02020603050405020304" pitchFamily="18" charset="0"/>
              </a:rPr>
              <a:t>显示 </a:t>
            </a:r>
            <a:r>
              <a:rPr lang="en-US" altLang="zh-CN">
                <a:latin typeface="Times New Roman" panose="02020603050405020304" pitchFamily="18" charset="0"/>
              </a:rPr>
              <a:t>IP </a:t>
            </a:r>
            <a:r>
              <a:rPr lang="zh-CN" altLang="en-US">
                <a:latin typeface="Times New Roman" panose="02020603050405020304" pitchFamily="18" charset="0"/>
              </a:rPr>
              <a:t>路由表中以 </a:t>
            </a:r>
            <a:r>
              <a:rPr lang="en-US" altLang="zh-CN">
                <a:latin typeface="Times New Roman" panose="02020603050405020304" pitchFamily="18" charset="0"/>
              </a:rPr>
              <a:t>10. </a:t>
            </a:r>
            <a:r>
              <a:rPr lang="zh-CN" altLang="en-US">
                <a:latin typeface="Times New Roman" panose="02020603050405020304" pitchFamily="18" charset="0"/>
              </a:rPr>
              <a:t>开始的路由。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035" name="灯片编号占位符 1">
            <a:extLst>
              <a:ext uri="{FF2B5EF4-FFF2-40B4-BE49-F238E27FC236}">
                <a16:creationId xmlns:a16="http://schemas.microsoft.com/office/drawing/2014/main" id="{9E3BF9EA-71A7-4870-BAD3-0124A1A914A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fld id="{9F5355D6-2308-49E1-93CA-0BCB67C8F953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t>14</a:t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设计模板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815</Words>
  <Application>Microsoft Office PowerPoint</Application>
  <PresentationFormat>全屏显示(4:3)</PresentationFormat>
  <Paragraphs>100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默认设计模板</vt:lpstr>
      <vt:lpstr>PowerPoint 演示文稿</vt:lpstr>
      <vt:lpstr>常用DOS命令(P1-13)</vt:lpstr>
      <vt:lpstr>Ping命令</vt:lpstr>
      <vt:lpstr>Ping命令</vt:lpstr>
      <vt:lpstr>tracert命令</vt:lpstr>
      <vt:lpstr>tracert命令</vt:lpstr>
      <vt:lpstr>ipconfig命令</vt:lpstr>
      <vt:lpstr>ipconfig命令</vt:lpstr>
      <vt:lpstr>netstat命令</vt:lpstr>
      <vt:lpstr>netstat命令</vt:lpstr>
      <vt:lpstr>arp命令</vt:lpstr>
      <vt:lpstr>arp命令</vt:lpstr>
      <vt:lpstr>Route命令</vt:lpstr>
      <vt:lpstr>Route命令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Digital Circuits</dc:creator>
  <cp:lastModifiedBy>倩怡 黄</cp:lastModifiedBy>
  <cp:revision>10</cp:revision>
  <dcterms:created xsi:type="dcterms:W3CDTF">2024-09-09T04:10:34Z</dcterms:created>
  <dcterms:modified xsi:type="dcterms:W3CDTF">2026-09-09T14:46:58Z</dcterms:modified>
</cp:coreProperties>
</file>